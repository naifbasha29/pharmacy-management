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097280"/>
            <a:ext cx="1645920" cy="1645920"/>
          </a:xfrm>
          <a:prstGeom prst="rect">
            <a:avLst>
              <a:gd name="adj" fmla="val 16667"/>
            </a:avLst>
          </a:prstGeom>
          <a:solidFill>
            <a:srgbClr val="1A0A00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43000"/>
            <a:ext cx="1645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💊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2377440" y="118872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 Management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2377440" y="182880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2377440" y="2514600"/>
            <a:ext cx="4754880" cy="347472"/>
          </a:xfrm>
          <a:prstGeom prst="rect">
            <a:avLst>
              <a:gd name="adj" fmla="val 26316"/>
            </a:avLst>
          </a:prstGeom>
          <a:solidFill>
            <a:srgbClr val="1A0A00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77440" y="251460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Module  ·  Web App  &amp;  Mobile App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377440" y="3035808"/>
            <a:ext cx="9601200" cy="2286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10" name="Text 8"/>
          <p:cNvSpPr/>
          <p:nvPr/>
        </p:nvSpPr>
        <p:spPr>
          <a:xfrm>
            <a:off x="2377440" y="320040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Presented by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94960" y="320040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Naif Basha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377440" y="370332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Course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94960" y="370332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Course Name]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377440" y="42062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🏫  College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94960" y="420624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College Name]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377440" y="470916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Academic Year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94960" y="470916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2025–2026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6217920"/>
            <a:ext cx="1737360" cy="310896"/>
          </a:xfrm>
          <a:prstGeom prst="rect">
            <a:avLst>
              <a:gd name="adj" fmla="val 23529"/>
            </a:avLst>
          </a:prstGeom>
          <a:solidFill>
            <a:srgbClr val="0A0A0A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6217920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377440" y="6217920"/>
            <a:ext cx="1737360" cy="310896"/>
          </a:xfrm>
          <a:prstGeom prst="rect">
            <a:avLst>
              <a:gd name="adj" fmla="val 23529"/>
            </a:avLst>
          </a:prstGeom>
          <a:solidFill>
            <a:srgbClr val="0A0A0A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77440" y="6217920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297680" y="6217920"/>
            <a:ext cx="1737360" cy="310896"/>
          </a:xfrm>
          <a:prstGeom prst="rect">
            <a:avLst>
              <a:gd name="adj" fmla="val 23529"/>
            </a:avLst>
          </a:prstGeom>
          <a:solidFill>
            <a:srgbClr val="0A0A0A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97680" y="6217920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17920" y="6217920"/>
            <a:ext cx="1737360" cy="310896"/>
          </a:xfrm>
          <a:prstGeom prst="rect">
            <a:avLst>
              <a:gd name="adj" fmla="val 23529"/>
            </a:avLst>
          </a:prstGeom>
          <a:solidFill>
            <a:srgbClr val="0A0A0A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6217920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138160" y="6217920"/>
            <a:ext cx="1737360" cy="310896"/>
          </a:xfrm>
          <a:prstGeom prst="rect">
            <a:avLst>
              <a:gd name="adj" fmla="val 23529"/>
            </a:avLst>
          </a:prstGeom>
          <a:solidFill>
            <a:srgbClr val="0A0A0A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38160" y="6217920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0058400" y="6217920"/>
            <a:ext cx="1737360" cy="310896"/>
          </a:xfrm>
          <a:prstGeom prst="rect">
            <a:avLst>
              <a:gd name="adj" fmla="val 23529"/>
            </a:avLst>
          </a:prstGeom>
          <a:solidFill>
            <a:srgbClr val="0A0A0A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058400" y="6217920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Multi-Platform Pharmacy User System — Overview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1274552" cy="2286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188720"/>
            <a:ext cx="11274552" cy="713232"/>
          </a:xfrm>
          <a:prstGeom prst="rect">
            <a:avLst>
              <a:gd name="adj" fmla="val 12821"/>
            </a:avLst>
          </a:prstGeom>
          <a:solidFill>
            <a:srgbClr val="0A0A0A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389888"/>
            <a:ext cx="310896" cy="310896"/>
          </a:xfrm>
          <a:prstGeom prst="ellipse">
            <a:avLst/>
          </a:prstGeom>
          <a:solidFill>
            <a:srgbClr val="1C0C00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38988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1261872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multi-platform Pharmacy Management System with a dedicated User Module accessible from both Web browsers and Android mobile devices.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11274552" cy="713232"/>
          </a:xfrm>
          <a:prstGeom prst="rect">
            <a:avLst>
              <a:gd name="adj" fmla="val 12821"/>
            </a:avLst>
          </a:prstGeom>
          <a:solidFill>
            <a:srgbClr val="0A0A0A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" y="2212848"/>
            <a:ext cx="310896" cy="310896"/>
          </a:xfrm>
          <a:prstGeom prst="ellipse">
            <a:avLst/>
          </a:prstGeom>
          <a:solidFill>
            <a:srgbClr val="1C0C00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21284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5840" y="2084832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 built using React.js + Vite; Mobile Application built using Expo (React Native) — both connected to the same shared Node.js / Express / MongoDB backend.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11274552" cy="713232"/>
          </a:xfrm>
          <a:prstGeom prst="rect">
            <a:avLst>
              <a:gd name="adj" fmla="val 12821"/>
            </a:avLst>
          </a:prstGeom>
          <a:solidFill>
            <a:srgbClr val="0A0A0A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" y="3035808"/>
            <a:ext cx="310896" cy="310896"/>
          </a:xfrm>
          <a:prstGeom prst="ellipse">
            <a:avLst/>
          </a:prstGeom>
          <a:solidFill>
            <a:srgbClr val="1C0C00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303580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5840" y="2907792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platforms allow patients to browse medicines, manage prescriptions, place orders, track deliveries, and manage their health profile securely.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657600"/>
            <a:ext cx="11274552" cy="713232"/>
          </a:xfrm>
          <a:prstGeom prst="rect">
            <a:avLst>
              <a:gd name="adj" fmla="val 12821"/>
            </a:avLst>
          </a:prstGeom>
          <a:solidFill>
            <a:srgbClr val="0A0A0A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6928" y="3858768"/>
            <a:ext cx="310896" cy="310896"/>
          </a:xfrm>
          <a:prstGeom prst="ellipse">
            <a:avLst/>
          </a:prstGeom>
          <a:solidFill>
            <a:srgbClr val="1C0C00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385876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05840" y="3730752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offers additional exclusive features: AI Symptom Checker, AI Chatbot, Home Medicine Cabinet, Favorites/Wishlist, and Personalized Recommendations.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480560"/>
            <a:ext cx="11274552" cy="713232"/>
          </a:xfrm>
          <a:prstGeom prst="rect">
            <a:avLst>
              <a:gd name="adj" fmla="val 12821"/>
            </a:avLst>
          </a:prstGeom>
          <a:solidFill>
            <a:srgbClr val="0A0A0A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6928" y="4681728"/>
            <a:ext cx="310896" cy="310896"/>
          </a:xfrm>
          <a:prstGeom prst="ellipse">
            <a:avLst/>
          </a:prstGeom>
          <a:solidFill>
            <a:srgbClr val="1C0C00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468172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05840" y="4553712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authentication, real-time Socket.io, and a shared REST API backend ensure consistent, secure data access across both platforms.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5303520"/>
            <a:ext cx="11274552" cy="713232"/>
          </a:xfrm>
          <a:prstGeom prst="rect">
            <a:avLst>
              <a:gd name="adj" fmla="val 12821"/>
            </a:avLst>
          </a:prstGeom>
          <a:solidFill>
            <a:srgbClr val="0A0A0A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66928" y="5504688"/>
            <a:ext cx="310896" cy="310896"/>
          </a:xfrm>
          <a:prstGeom prst="ellipse">
            <a:avLst/>
          </a:prstGeom>
          <a:solidFill>
            <a:srgbClr val="1C0C00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550468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05840" y="5376672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demonstrates a practical full-stack, multi-platform real-world pharmacy application suitable for production use.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faced by patients in traditional pharmacy systems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1274552" cy="2286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234440"/>
            <a:ext cx="5760720" cy="1170432"/>
          </a:xfrm>
          <a:prstGeom prst="rect">
            <a:avLst>
              <a:gd name="adj" fmla="val 9375"/>
            </a:avLst>
          </a:prstGeom>
          <a:solidFill>
            <a:srgbClr val="0A0A0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34440"/>
            <a:ext cx="54864" cy="117043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530352" y="13258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🏥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143000" y="130759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visits only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43000" y="164592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must physically go to pharmacy for every medicine purchase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0" y="1234440"/>
            <a:ext cx="5760720" cy="1170432"/>
          </a:xfrm>
          <a:prstGeom prst="rect">
            <a:avLst>
              <a:gd name="adj" fmla="val 9375"/>
            </a:avLst>
          </a:prstGeom>
          <a:solidFill>
            <a:srgbClr val="0A0A0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1234440"/>
            <a:ext cx="54864" cy="117043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6565392" y="13258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178040" y="130759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prescriptions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178040" y="164592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prescriptions can be lost; no digital tracking of verification status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560320"/>
            <a:ext cx="5760720" cy="1170432"/>
          </a:xfrm>
          <a:prstGeom prst="rect">
            <a:avLst>
              <a:gd name="adj" fmla="val 9375"/>
            </a:avLst>
          </a:prstGeom>
          <a:solidFill>
            <a:srgbClr val="0A0A0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560320"/>
            <a:ext cx="54864" cy="117043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" y="26517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143000" y="263347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order tracking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3000" y="297180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purchase, no visibility into delivery status or purchase history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0" y="2560320"/>
            <a:ext cx="5760720" cy="1170432"/>
          </a:xfrm>
          <a:prstGeom prst="rect">
            <a:avLst>
              <a:gd name="adj" fmla="val 9375"/>
            </a:avLst>
          </a:prstGeom>
          <a:solidFill>
            <a:srgbClr val="0A0A0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0" y="2560320"/>
            <a:ext cx="54864" cy="117043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3" name="Text 21"/>
          <p:cNvSpPr/>
          <p:nvPr/>
        </p:nvSpPr>
        <p:spPr>
          <a:xfrm>
            <a:off x="6565392" y="26517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❌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178040" y="263347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mobile access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178040" y="297180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smartphone app; patients cannot manage medicines on the go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3886200"/>
            <a:ext cx="5760720" cy="1170432"/>
          </a:xfrm>
          <a:prstGeom prst="rect">
            <a:avLst>
              <a:gd name="adj" fmla="val 9375"/>
            </a:avLst>
          </a:prstGeom>
          <a:solidFill>
            <a:srgbClr val="0A0A0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3886200"/>
            <a:ext cx="54864" cy="117043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8" name="Text 26"/>
          <p:cNvSpPr/>
          <p:nvPr/>
        </p:nvSpPr>
        <p:spPr>
          <a:xfrm>
            <a:off x="530352" y="39776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143000" y="395935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symptom guidance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143000" y="429768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must consult doctor for even basic medicine queries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00800" y="3886200"/>
            <a:ext cx="5760720" cy="1170432"/>
          </a:xfrm>
          <a:prstGeom prst="rect">
            <a:avLst>
              <a:gd name="adj" fmla="val 9375"/>
            </a:avLst>
          </a:prstGeom>
          <a:solidFill>
            <a:srgbClr val="0A0A0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00800" y="3886200"/>
            <a:ext cx="54864" cy="117043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3" name="Text 31"/>
          <p:cNvSpPr/>
          <p:nvPr/>
        </p:nvSpPr>
        <p:spPr>
          <a:xfrm>
            <a:off x="6565392" y="39776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🩸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7178040" y="395935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health records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178040" y="429768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group, allergies, chronic conditions stored only on paper or memory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65760" y="5212080"/>
            <a:ext cx="5760720" cy="1170432"/>
          </a:xfrm>
          <a:prstGeom prst="rect">
            <a:avLst>
              <a:gd name="adj" fmla="val 9375"/>
            </a:avLst>
          </a:prstGeom>
          <a:solidFill>
            <a:srgbClr val="0A0A0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5212080"/>
            <a:ext cx="54864" cy="117043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8" name="Text 36"/>
          <p:cNvSpPr/>
          <p:nvPr/>
        </p:nvSpPr>
        <p:spPr>
          <a:xfrm>
            <a:off x="530352" y="53035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🎟️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1143000" y="528523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support channel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143000" y="562356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Complaints and queries handled verbally with no formal record keeping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400800" y="5212080"/>
            <a:ext cx="5760720" cy="1170432"/>
          </a:xfrm>
          <a:prstGeom prst="rect">
            <a:avLst>
              <a:gd name="adj" fmla="val 9375"/>
            </a:avLst>
          </a:prstGeom>
          <a:solidFill>
            <a:srgbClr val="0A0A0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400800" y="5212080"/>
            <a:ext cx="54864" cy="117043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3" name="Text 41"/>
          <p:cNvSpPr/>
          <p:nvPr/>
        </p:nvSpPr>
        <p:spPr>
          <a:xfrm>
            <a:off x="6565392" y="53035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🔑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7178040" y="528523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password recovery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7178040" y="562356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digital account; forgetting credentials means losing all access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implemented User Module provides — Web &amp; Mobile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1274552" cy="2286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143000"/>
            <a:ext cx="5577840" cy="5349240"/>
          </a:xfrm>
          <a:prstGeom prst="rect">
            <a:avLst>
              <a:gd name="adj" fmla="val 1709"/>
            </a:avLst>
          </a:prstGeom>
          <a:solidFill>
            <a:srgbClr val="0A0A0A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252728"/>
            <a:ext cx="52486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Web Application  (React.js + Vite)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563624"/>
            <a:ext cx="5394960" cy="13716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600200"/>
            <a:ext cx="521208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Login with Patient ID &amp; password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Medicine catalog: search, category filter, price range, pagination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Shopping cart: GST 18% auto-calc, free shipping ≥ ₹500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3-step checkout: Address → Payment → Review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Order history with tab filters &amp; expandable details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Prescription upload (image/PDF) with status tracking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Profile: Personal details, Health profile, Password security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Help &amp; Support: FAQ accordion + Support ticket submission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63640" y="1143000"/>
            <a:ext cx="5577840" cy="5349240"/>
          </a:xfrm>
          <a:prstGeom prst="rect">
            <a:avLst>
              <a:gd name="adj" fmla="val 1709"/>
            </a:avLst>
          </a:prstGeom>
          <a:solidFill>
            <a:srgbClr val="0A0A0A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28232" y="1252728"/>
            <a:ext cx="52486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Mobile Application  (Expo / React Native)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55080" y="1563624"/>
            <a:ext cx="5394960" cy="13716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1600200"/>
            <a:ext cx="521208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Login with Email or Patient 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3-step self-registration + Blood Group selector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Forgot Password → OTP → Reset (4-screen flow)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2-column medicine grid + debounced search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 Medicine Detail screen (dosage, uses, side effects)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Cart as modal slide-up; Order Detail with tracking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Prescription: camera capture or gallery upload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❤️  Favorites/Wishlist with discounted price display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🤖  AI Symptom Checker with quick-tap tags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💬  AI Chatbot Assistant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🏠  Home Medicine Cabinet with expiry color alerts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⭐  Personalized Recommendations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🌙  Dark / Light theme toggle (persisted)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&amp; Software Requirements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technology stack used in this project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1274552" cy="2286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88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Shared Backend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508760"/>
          <a:ext cx="384048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28016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Node.js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v18+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Express.js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4.18.2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MongoDB (Mongoose)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JWT (jsonwebtoken)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Bcryptjs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Socket.io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434840" y="1188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Web Frontend</a:t>
            </a:r>
            <a:endParaRPr lang="en-US" sz="13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34840" y="1508760"/>
          <a:ext cx="3657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28016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React.js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18.2.0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5.0.10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Router DOM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6.21.1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Axios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Icons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Hot Toast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Recharts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8321040" y="1188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Mobile App</a:t>
            </a:r>
            <a:endParaRPr lang="en-US" sz="1300" dirty="0"/>
          </a:p>
        </p:txBody>
      </p:sp>
      <p:graphicFrame>
        <p:nvGraphicFramePr>
          <p:cNvPr id="1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21040" y="1508760"/>
          <a:ext cx="35661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28016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~54.0.33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Native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Navigation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Axios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1.13.3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 Image Picker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~17.0.10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 Secure Store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~15.0.8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Socket.io Client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</a:tr>
            </a:tbl>
          </a:graphicData>
        </a:graphic>
      </p:graphicFrame>
      <p:sp>
        <p:nvSpPr>
          <p:cNvPr id="12" name="Shape 7"/>
          <p:cNvSpPr/>
          <p:nvPr/>
        </p:nvSpPr>
        <p:spPr>
          <a:xfrm>
            <a:off x="365760" y="5029200"/>
            <a:ext cx="11457432" cy="1463040"/>
          </a:xfrm>
          <a:prstGeom prst="rect">
            <a:avLst>
              <a:gd name="adj" fmla="val 6250"/>
            </a:avLst>
          </a:prstGeom>
          <a:solidFill>
            <a:srgbClr val="0A0A0A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548640" y="5120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Hardware Requirements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548640" y="544068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Web: PC/Laptop | Intel i5+ | 8GB RAM | Windows 10/11 | Modern Browser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548640" y="5751576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Mobile: Android Smartphone | Android 8.0+ | 3GB RAM | 2GB free storage | WiFi/4G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548640" y="606247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Server: Node.js v18+ | MongoDB Atlas or local | Internet connection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Backend API serving both Web and Mobile platforms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1274552" cy="2286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188720"/>
            <a:ext cx="3200400" cy="2926080"/>
          </a:xfrm>
          <a:prstGeom prst="rect">
            <a:avLst>
              <a:gd name="adj" fmla="val 4375"/>
            </a:avLst>
          </a:prstGeom>
          <a:solidFill>
            <a:srgbClr val="00091A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2801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Web App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(React.js + Vite)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90195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AuthContext + CartContext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1480" y="2304288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Login / Dashboard / Catalog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" y="2706624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Cart / Checkout / Orders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1480" y="310896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Prescriptions / Profile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11480" y="3511296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Help &amp; Support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686800" y="1188720"/>
            <a:ext cx="3200400" cy="2926080"/>
          </a:xfrm>
          <a:prstGeom prst="rect">
            <a:avLst>
              <a:gd name="adj" fmla="val 4375"/>
            </a:avLst>
          </a:prstGeom>
          <a:solidFill>
            <a:srgbClr val="00120A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0" y="12801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Mobile App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(Expo / React Native)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823960" y="1901952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AuthContext + CartContext + ThemeContext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823960" y="2304288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Login / Register / Forgot PW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823960" y="2706624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Catalog / Cart / Orders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823960" y="310896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AI Features / Favorites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823960" y="3511296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Home Medicine / Recommendations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474720" y="2468880"/>
            <a:ext cx="1188720" cy="731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1" name="Text 19"/>
          <p:cNvSpPr/>
          <p:nvPr/>
        </p:nvSpPr>
        <p:spPr>
          <a:xfrm>
            <a:off x="3520440" y="2267712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Socket.io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498080" y="2468880"/>
            <a:ext cx="1188720" cy="731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3" name="Text 21"/>
          <p:cNvSpPr/>
          <p:nvPr/>
        </p:nvSpPr>
        <p:spPr>
          <a:xfrm>
            <a:off x="7543800" y="2267712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Socket.io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1188720"/>
            <a:ext cx="2834640" cy="2926080"/>
          </a:xfrm>
          <a:prstGeom prst="rect">
            <a:avLst>
              <a:gd name="adj" fmla="val 4516"/>
            </a:avLst>
          </a:prstGeom>
          <a:solidFill>
            <a:srgbClr val="1A0A00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1261872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Backend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(Node.js + Express)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73168" y="1901952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 Middleware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73168" y="2304288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/api/auth  /api/medicines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73168" y="2706624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/api/orders  /api/prescriptions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73168" y="3108960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/api/favorites  /api/ai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73168" y="3511296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/api/home-medicines  /api/support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989320" y="4114800"/>
            <a:ext cx="73152" cy="4572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2" name="Text 30"/>
          <p:cNvSpPr/>
          <p:nvPr/>
        </p:nvSpPr>
        <p:spPr>
          <a:xfrm>
            <a:off x="5212080" y="422452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Mongoose ODM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023360" y="4572000"/>
            <a:ext cx="4114800" cy="1737360"/>
          </a:xfrm>
          <a:prstGeom prst="rect">
            <a:avLst>
              <a:gd name="adj" fmla="val 7368"/>
            </a:avLst>
          </a:prstGeom>
          <a:solidFill>
            <a:srgbClr val="0A0A0A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023360" y="4645152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MongoDB Database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114800" y="5020056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 ·  medicines  ·  categories  ·  orders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prescriptions  ·  favorites  ·  homemedicines  ·  supporttickets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65760" y="6473952"/>
            <a:ext cx="2651760" cy="256032"/>
          </a:xfrm>
          <a:prstGeom prst="rect">
            <a:avLst>
              <a:gd name="adj" fmla="val 21429"/>
            </a:avLst>
          </a:prstGeom>
          <a:solidFill>
            <a:srgbClr val="00091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647395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Web App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291840" y="6473952"/>
            <a:ext cx="2651760" cy="256032"/>
          </a:xfrm>
          <a:prstGeom prst="rect">
            <a:avLst>
              <a:gd name="adj" fmla="val 21429"/>
            </a:avLst>
          </a:prstGeom>
          <a:solidFill>
            <a:srgbClr val="00120A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91840" y="647395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Mobile App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217920" y="6473952"/>
            <a:ext cx="2651760" cy="256032"/>
          </a:xfrm>
          <a:prstGeom prst="rect">
            <a:avLst>
              <a:gd name="adj" fmla="val 21429"/>
            </a:avLst>
          </a:prstGeom>
          <a:solidFill>
            <a:srgbClr val="1A0A00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17920" y="647395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Backend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9144000" y="6473952"/>
            <a:ext cx="2651760" cy="256032"/>
          </a:xfrm>
          <a:prstGeom prst="rect">
            <a:avLst>
              <a:gd name="adj" fmla="val 21429"/>
            </a:avLst>
          </a:prstGeom>
          <a:solidFill>
            <a:srgbClr val="1A12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144000" y="647395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Database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— Authentication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login, registration, and password recovery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1274552" cy="2286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143000"/>
            <a:ext cx="5394960" cy="5394960"/>
          </a:xfrm>
          <a:prstGeom prst="rect">
            <a:avLst>
              <a:gd name="adj" fmla="val 1695"/>
            </a:avLst>
          </a:prstGeom>
          <a:solidFill>
            <a:srgbClr val="0A0A0A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252728"/>
            <a:ext cx="5065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Web App  (PatientLogin.jsx)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563624"/>
            <a:ext cx="5212080" cy="13716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600200"/>
            <a:ext cx="50292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Login using Patient ID (e.g. PAT000123) + Password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Show / Hide password toggle button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Error banner displayed on wrong credentials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Session cleared on mount → fresh login always required (security)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Redirects to /user dashboard on successful login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Dedicated logout via Sidebar → clears AuthContext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API called: POST /api/auth/login/patient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Token stored in-memory (AuthContext.js)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26480" y="1143000"/>
            <a:ext cx="5715000" cy="5394960"/>
          </a:xfrm>
          <a:prstGeom prst="rect">
            <a:avLst>
              <a:gd name="adj" fmla="val 1695"/>
            </a:avLst>
          </a:prstGeom>
          <a:solidFill>
            <a:srgbClr val="0A0A0A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91072" y="1252728"/>
            <a:ext cx="53858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Mobile App  (5 Screens)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1563624"/>
            <a:ext cx="5532120" cy="13716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1600200"/>
            <a:ext cx="53492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Login: Email or Patient ID + Password (more flexible)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3-Step Registration Wizard: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Step 1 (Account): Email, Phone, Password + strength indicator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Step 2 (Personal): Name, Address, Date of Birth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Step 3 (Health): Blood Group chips, Allergies, Conditions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Forgot Password → OTP → Verify → Reset (4 screens)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OTP sent to masked email: e.g. n***@gmail.com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Token stored securely via expo-secure-store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API called: POST /api/auth/login/patient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POST /api/auth/register/patient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POST /api/auth/forgot-password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&amp; 3 — Medicine Catalog &amp; Cart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medicines, manage cart, and proceed to checkout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1274552" cy="2286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143000"/>
            <a:ext cx="5394960" cy="2468880"/>
          </a:xfrm>
          <a:prstGeom prst="rect">
            <a:avLst>
              <a:gd name="adj" fmla="val 3704"/>
            </a:avLst>
          </a:prstGeom>
          <a:solidFill>
            <a:srgbClr val="0A0A0A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252728"/>
            <a:ext cx="5065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Catalog  (Catalog.jsx)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563624"/>
            <a:ext cx="5212080" cy="13716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627632"/>
            <a:ext cx="5074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Search bar with price range (Min ₹ – Max ₹) + clear button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1993392"/>
            <a:ext cx="5074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Category filter chips (dynamically loaded from API)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359152"/>
            <a:ext cx="5074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Pagination: 12 per page — Previous / Page X of Y / Next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724912"/>
            <a:ext cx="5074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Low Stock (≤10) and Out of Stock badges on cards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090672"/>
            <a:ext cx="5074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Add to Cart disabled automatically for out-of-stock items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143000"/>
            <a:ext cx="5715000" cy="2468880"/>
          </a:xfrm>
          <a:prstGeom prst="rect">
            <a:avLst>
              <a:gd name="adj" fmla="val 3704"/>
            </a:avLst>
          </a:prstGeom>
          <a:solidFill>
            <a:srgbClr val="0A0A0A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91072" y="1252728"/>
            <a:ext cx="53858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Catalog  (CatalogScreen.js + MedicineDetailScreen.js)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1563624"/>
            <a:ext cx="5532120" cy="13716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1627632"/>
            <a:ext cx="5394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2-column native grid using FlatList (numColumns=2)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09360" y="1993392"/>
            <a:ext cx="5394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Debounced search (500ms delay) — avoids excess API calls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09360" y="2359152"/>
            <a:ext cx="5394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Horizontal scrollable category chips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09360" y="2724912"/>
            <a:ext cx="5394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Pull-to-refresh (RefreshControl)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09360" y="3090672"/>
            <a:ext cx="5394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Tap card → navigates to MedicineDetailScreen (dosage, uses, side effects)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09360" y="3456432"/>
            <a:ext cx="5394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Heart icon on detail screen → adds to Favorites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749040"/>
            <a:ext cx="5394960" cy="2560320"/>
          </a:xfrm>
          <a:prstGeom prst="rect">
            <a:avLst>
              <a:gd name="adj" fmla="val 3571"/>
            </a:avLst>
          </a:prstGeom>
          <a:solidFill>
            <a:srgbClr val="0A0A0A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" y="3858768"/>
            <a:ext cx="5065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Cart &amp; Checkout  (Cart.jsx + Checkout.jsx)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4169664"/>
            <a:ext cx="5212080" cy="13716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4224528"/>
            <a:ext cx="5074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Item list with +/− quantity, remove item, Clear All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4590288"/>
            <a:ext cx="5074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Subtotal + GST 18% auto-calc + Shipping (FREE ≥ ₹500)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4956048"/>
            <a:ext cx="5074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3-step visual stepper: Shipping → Payment → Review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5321808"/>
            <a:ext cx="5074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Payment options: COD, UPI, Credit/Debit Card, Net Banking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5687568"/>
            <a:ext cx="5074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Shipping fields pre-filled from user profile address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" y="6053328"/>
            <a:ext cx="5074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POST /api/orders → clears cart → navigates to /user/orders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126480" y="3749040"/>
            <a:ext cx="5715000" cy="2560320"/>
          </a:xfrm>
          <a:prstGeom prst="rect">
            <a:avLst>
              <a:gd name="adj" fmla="val 3571"/>
            </a:avLst>
          </a:prstGeom>
          <a:solidFill>
            <a:srgbClr val="0A0A0A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91072" y="3858768"/>
            <a:ext cx="53858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Cart &amp; Checkout  (CartScreen.js + CheckoutScreen.js)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217920" y="4169664"/>
            <a:ext cx="5532120" cy="13716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35" name="Text 33"/>
          <p:cNvSpPr/>
          <p:nvPr/>
        </p:nvSpPr>
        <p:spPr>
          <a:xfrm>
            <a:off x="6309360" y="4224528"/>
            <a:ext cx="5394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Cart opens as MODAL slide-up from bottom (native UX)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309360" y="4590288"/>
            <a:ext cx="5394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+/− quantity controls in native UI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309360" y="4956048"/>
            <a:ext cx="5394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Same price calculation: Subtotal + GST + Shipping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309360" y="5321808"/>
            <a:ext cx="5394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Checkout with native address form + payment selection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309360" y="5687568"/>
            <a:ext cx="5394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Order placed → navigates to Orders tab on success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309360" y="6053328"/>
            <a:ext cx="5394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OrderDetailScreen shows full item list + tracking history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4, 5 &amp; 6 — Orders, Prescriptions &amp; Profile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Tracking, digital prescriptions, and account management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1274552" cy="2286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188720"/>
            <a:ext cx="11457432" cy="310896"/>
          </a:xfrm>
          <a:prstGeom prst="rect">
            <a:avLst>
              <a:gd name="adj" fmla="val 23529"/>
            </a:avLst>
          </a:prstGeom>
          <a:solidFill>
            <a:srgbClr val="1C0C00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070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My Orders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517904"/>
            <a:ext cx="5577840" cy="1353312"/>
          </a:xfrm>
          <a:prstGeom prst="rect">
            <a:avLst>
              <a:gd name="adj" fmla="val 5405"/>
            </a:avLst>
          </a:prstGeom>
          <a:solidFill>
            <a:srgbClr val="0A0A0A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572768"/>
            <a:ext cx="5394960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Tab filters: All / Active / Completed / Cancelled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Expandable accordion order cards with item list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Status badges: Pending → Confirmed → Processing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Dispatched → Delivered → Cancelled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Cancel Order button for Pending status orders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36208" y="1517904"/>
            <a:ext cx="5586984" cy="1353312"/>
          </a:xfrm>
          <a:prstGeom prst="rect">
            <a:avLst>
              <a:gd name="adj" fmla="val 5405"/>
            </a:avLst>
          </a:prstGeom>
          <a:solidFill>
            <a:srgbClr val="0A0A0A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73368" y="1572768"/>
            <a:ext cx="5394960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Dedicated OrderDetailScreen with full tracking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Tracking history with timestamps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Shipping address + payment method displayed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Same Cancel order via PUT /api/orders/:id/cancel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3017520"/>
            <a:ext cx="11457432" cy="310896"/>
          </a:xfrm>
          <a:prstGeom prst="rect">
            <a:avLst>
              <a:gd name="adj" fmla="val 23529"/>
            </a:avLst>
          </a:prstGeom>
          <a:solidFill>
            <a:srgbClr val="1C0C00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0358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Prescriptions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346704"/>
            <a:ext cx="5577840" cy="1353312"/>
          </a:xfrm>
          <a:prstGeom prst="rect">
            <a:avLst>
              <a:gd name="adj" fmla="val 5405"/>
            </a:avLst>
          </a:prstGeom>
          <a:solidFill>
            <a:srgbClr val="0A0A0A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401568"/>
            <a:ext cx="5394960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Click-to-select image or PDF (max 5MB)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Live image preview before upload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Optional note field → sent to pharmacist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History grid: thumbnail, date, status badge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36208" y="3346704"/>
            <a:ext cx="5586984" cy="1353312"/>
          </a:xfrm>
          <a:prstGeom prst="rect">
            <a:avLst>
              <a:gd name="adj" fmla="val 5405"/>
            </a:avLst>
          </a:prstGeom>
          <a:solidFill>
            <a:srgbClr val="0A0A0A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73368" y="3401568"/>
            <a:ext cx="5394960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expo-image-picker: camera capture or gallery pick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Upload as multipart/form-data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Prescription history with status (Pending/Approved/Rejected)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Pharmacist notes displayed if added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4846320"/>
            <a:ext cx="11457432" cy="310896"/>
          </a:xfrm>
          <a:prstGeom prst="rect">
            <a:avLst>
              <a:gd name="adj" fmla="val 23529"/>
            </a:avLst>
          </a:prstGeom>
          <a:solidFill>
            <a:srgbClr val="1C0C00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864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My Profile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5175504"/>
            <a:ext cx="5577840" cy="1353312"/>
          </a:xfrm>
          <a:prstGeom prst="rect">
            <a:avLst>
              <a:gd name="adj" fmla="val 5405"/>
            </a:avLst>
          </a:prstGeom>
          <a:solidFill>
            <a:srgbClr val="0A0A0A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5230368"/>
            <a:ext cx="5394960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Tab 1 (Personal): Name, Phone, Street, City, State, ZIP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Email is read-only (cannot change)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Tab 2 (Health): Blood Group dropdown, Allergies &amp; Conditions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Tab 3 (Security): Change Password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36208" y="5175504"/>
            <a:ext cx="5586984" cy="1353312"/>
          </a:xfrm>
          <a:prstGeom prst="rect">
            <a:avLst>
              <a:gd name="adj" fmla="val 5405"/>
            </a:avLst>
          </a:prstGeom>
          <a:solidFill>
            <a:srgbClr val="0A0A0A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73368" y="5230368"/>
            <a:ext cx="5394960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Same 3-tab structure in native mobile UI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Blood group via tap-select chips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Allergies / conditions via native text input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Password change via PUT /api/auth/change-password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Mobile-Exclusive Features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capabilities only in the Expo React Native app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1274552" cy="2286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170432"/>
            <a:ext cx="5669280" cy="1627632"/>
          </a:xfrm>
          <a:prstGeom prst="rect">
            <a:avLst>
              <a:gd name="adj" fmla="val 7865"/>
            </a:avLst>
          </a:prstGeom>
          <a:solidFill>
            <a:srgbClr val="0A0A0A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70432"/>
            <a:ext cx="64008" cy="162763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6187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234440" y="1261872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Symptom Checker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1682496"/>
            <a:ext cx="5349240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symptoms or tap quick tags (Fever, Headache, Cold &amp; Cough, etc.)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returns possible conditions + suggested medicines with Add to Cart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POST /api/ai/symptom-check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355080" y="1170432"/>
            <a:ext cx="5669280" cy="1627632"/>
          </a:xfrm>
          <a:prstGeom prst="rect">
            <a:avLst>
              <a:gd name="adj" fmla="val 7865"/>
            </a:avLst>
          </a:prstGeom>
          <a:solidFill>
            <a:srgbClr val="0A0A0A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55080" y="1170432"/>
            <a:ext cx="64008" cy="16276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6537960" y="126187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💬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223760" y="1261872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 Assistant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37960" y="1682496"/>
            <a:ext cx="5349240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interface for medicine queries &amp; order status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intents: greeting, medicine search, order status, general help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POST /api/ai/chat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2999232"/>
            <a:ext cx="5669280" cy="1627632"/>
          </a:xfrm>
          <a:prstGeom prst="rect">
            <a:avLst>
              <a:gd name="adj" fmla="val 7865"/>
            </a:avLst>
          </a:prstGeom>
          <a:solidFill>
            <a:srgbClr val="0A0A0A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999232"/>
            <a:ext cx="64008" cy="162763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09067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🏠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234440" y="3090672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Medicine Cabinet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3511296"/>
            <a:ext cx="5349240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inventory: Name, Dosage, Qty, Expiry Date, Notes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Color-coded alerts: 🟢 &gt;90 days · 🔵 &lt;90 · 🟡 &lt;30 (Expiring) · 🔴 Expired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GET/POST/DELETE /api/home-medicines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355080" y="2999232"/>
            <a:ext cx="5669280" cy="1627632"/>
          </a:xfrm>
          <a:prstGeom prst="rect">
            <a:avLst>
              <a:gd name="adj" fmla="val 7865"/>
            </a:avLst>
          </a:prstGeom>
          <a:solidFill>
            <a:srgbClr val="0A0A0A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55080" y="2999232"/>
            <a:ext cx="64008" cy="162763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3" name="Text 21"/>
          <p:cNvSpPr/>
          <p:nvPr/>
        </p:nvSpPr>
        <p:spPr>
          <a:xfrm>
            <a:off x="6537960" y="309067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❤️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7223760" y="3090672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Favorites / Wishlist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37960" y="3511296"/>
            <a:ext cx="5349240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medicines with discounted price display (strikethrough original)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Cart directly from wishlist; pull-to-refresh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GET/POST/DELETE /api/favorites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65760" y="4828032"/>
            <a:ext cx="5669280" cy="1627632"/>
          </a:xfrm>
          <a:prstGeom prst="rect">
            <a:avLst>
              <a:gd name="adj" fmla="val 7865"/>
            </a:avLst>
          </a:prstGeom>
          <a:solidFill>
            <a:srgbClr val="0A0A0A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4828032"/>
            <a:ext cx="64008" cy="16276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491947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⭐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1234440" y="4919472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Recommendations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48640" y="5340096"/>
            <a:ext cx="5349240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Medicines recommended based on past purchase history &amp; categories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Browsable list with Add to Cart button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GET /api/ai/recommendations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355080" y="4828032"/>
            <a:ext cx="5669280" cy="1627632"/>
          </a:xfrm>
          <a:prstGeom prst="rect">
            <a:avLst>
              <a:gd name="adj" fmla="val 7865"/>
            </a:avLst>
          </a:prstGeom>
          <a:solidFill>
            <a:srgbClr val="0A0A0A"/>
          </a:solidFill>
          <a:ln w="19050">
            <a:solidFill>
              <a:srgbClr val="9CA3A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55080" y="4828032"/>
            <a:ext cx="64008" cy="1627632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33" name="Text 31"/>
          <p:cNvSpPr/>
          <p:nvPr/>
        </p:nvSpPr>
        <p:spPr>
          <a:xfrm>
            <a:off x="6537960" y="491947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🌙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7223760" y="4919472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/ Light Theme Toggle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537960" y="5340096"/>
            <a:ext cx="5349240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dark and light theme support; matches web color palette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preference persisted via AsyncStorage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ThemeContext provides colors, typography &amp; spacing system-wide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Comparison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 vs Mobile App — implemented features side by side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1274552" cy="22860"/>
          </a:xfrm>
          <a:prstGeom prst="rect">
            <a:avLst/>
          </a:prstGeom>
          <a:solidFill>
            <a:srgbClr val="1F1F1F"/>
          </a:solidFill>
          <a:ln/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97280"/>
          <a:ext cx="115214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4206240"/>
                <a:gridCol w="448056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App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 App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 Login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Patient ID + Password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Email or Patient 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Self-Registration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 Not available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3-Step Wizard (Account + Personal + Health)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Forgot Password / OTP Reset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 Not implemented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Forgot PW → OTP → Verify → Reset (4 screens)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Medicine Catalog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Grid + search + price range + pagination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2-col FlatList + debounced search + pull-refresh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Medicine Detail Page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 Not separate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Dedicated MedicineDetailScreen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Shopping Cart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Full page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Modal slide-up (bottom sheet)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3-Step Checkout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Address → Payment → Review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Address → Payment → Review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History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Tab filters + expandable accordion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List + dedicated OrderDetailScreen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Tracking History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 Status badge only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Full tracking timeline with timestamps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Prescription Upload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File picker (image/PDF)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Camera capture or gallery (expo-image-picker)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Profile (Personal / Health / Security)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3 tabs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3 tabs (native UI)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Dark / Light Theme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 Dark only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Toggle (persisted via AsyncStorage)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Favorites / Wishlist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 Not implemented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FavoritesScreen with discount display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Symptom Checker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 Not implemented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SymptomCheckerScreen + quick tags + results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Chatbot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 Not implemented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ChatbotScreen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 Medicine Cabinet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 Not implemented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HomeMedicineScreen with expiry color alerts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Personalized Recommendations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 Not implemented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RecommendationsScreen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Help &amp; Support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FAQ + Ticket form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FAQ + Ticket form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(Socket.io)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Connected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Connected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achievements — User Module (Web &amp; Mobile)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1274552" cy="2286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170432"/>
            <a:ext cx="5669280" cy="1719072"/>
          </a:xfrm>
          <a:prstGeom prst="rect">
            <a:avLst>
              <a:gd name="adj" fmla="val 6383"/>
            </a:avLst>
          </a:prstGeom>
          <a:solidFill>
            <a:srgbClr val="0A0A0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98448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🌐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143000" y="1280160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30352" y="1682496"/>
            <a:ext cx="537667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patient portal with 8 fully functional modules: Login, Dashboard, Catalog, Cart, Checkout, Orders, Prescriptions, Profile &amp; Support.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55080" y="1170432"/>
            <a:ext cx="5669280" cy="1719072"/>
          </a:xfrm>
          <a:prstGeom prst="rect">
            <a:avLst>
              <a:gd name="adj" fmla="val 6383"/>
            </a:avLst>
          </a:prstGeom>
          <a:solidFill>
            <a:srgbClr val="0A0A0A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298448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📱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132320" y="1280160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19672" y="1682496"/>
            <a:ext cx="537667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React Native app with all web features PLUS: Registration, OTP Password Reset, Favorites, AI Symptom Checker, AI Chatbot, Home Medicine Cabinet, Recommendations &amp; Dark/Light Theme.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072384"/>
            <a:ext cx="5669280" cy="1719072"/>
          </a:xfrm>
          <a:prstGeom prst="rect">
            <a:avLst>
              <a:gd name="adj" fmla="val 6383"/>
            </a:avLst>
          </a:prstGeom>
          <a:solidFill>
            <a:srgbClr val="0A0A0A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200400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⚙️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143000" y="3182112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Backend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0352" y="3584448"/>
            <a:ext cx="537667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Node.js/Express server with 20+ API route groups powers both platforms — any backend feature is instantly available to both Web and Mobile.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55080" y="3072384"/>
            <a:ext cx="5669280" cy="1719072"/>
          </a:xfrm>
          <a:prstGeom prst="rect">
            <a:avLst>
              <a:gd name="adj" fmla="val 6383"/>
            </a:avLst>
          </a:prstGeom>
          <a:solidFill>
            <a:srgbClr val="0A0A0A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3200400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🔐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7132320" y="3182112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19672" y="3584448"/>
            <a:ext cx="537667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 across both platforms. Web uses in-memory AuthContext. Mobile uses expo-secure-store for encrypted token storage.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974336"/>
            <a:ext cx="5669280" cy="1719072"/>
          </a:xfrm>
          <a:prstGeom prst="rect">
            <a:avLst>
              <a:gd name="adj" fmla="val 6383"/>
            </a:avLst>
          </a:prstGeom>
          <a:solidFill>
            <a:srgbClr val="0A0A0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5102352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1143000" y="5084064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Integration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30352" y="5486400"/>
            <a:ext cx="537667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integrates an AI Symptom Checker and AI Chatbot — unique features that provide medicine guidance without requiring a doctor visit.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355080" y="4974336"/>
            <a:ext cx="5669280" cy="1719072"/>
          </a:xfrm>
          <a:prstGeom prst="rect">
            <a:avLst>
              <a:gd name="adj" fmla="val 6383"/>
            </a:avLst>
          </a:prstGeom>
          <a:solidFill>
            <a:srgbClr val="0A0A0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92240" y="5102352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🏠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7132320" y="5084064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Medicine Tracking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519672" y="5486400"/>
            <a:ext cx="537667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Mobile-exclusive Home Medicine Cabinet allows patients to track expiry dates of home medicines with color-coded alerts — improving medication safety.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improvements based on existing backend infrastructure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1274552" cy="2286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170432"/>
            <a:ext cx="5669280" cy="1005840"/>
          </a:xfrm>
          <a:prstGeom prst="rect">
            <a:avLst>
              <a:gd name="adj" fmla="val 9091"/>
            </a:avLst>
          </a:prstGeom>
          <a:solidFill>
            <a:srgbClr val="0A0A0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435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🖥️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78992" y="1243584"/>
            <a:ext cx="4828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 (Web)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78992" y="1572768"/>
            <a:ext cx="482803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admin routes exist; frontend admin module can be integrated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355080" y="1170432"/>
            <a:ext cx="5669280" cy="1005840"/>
          </a:xfrm>
          <a:prstGeom prst="rect">
            <a:avLst>
              <a:gd name="adj" fmla="val 9091"/>
            </a:avLst>
          </a:prstGeom>
          <a:solidFill>
            <a:srgbClr val="0A0A0A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2435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💳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068312" y="1243584"/>
            <a:ext cx="4828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Payment Gateway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068312" y="1572768"/>
            <a:ext cx="482803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paymentsAPI already wired in mobile; Razorpay/Stripe can be added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286000"/>
            <a:ext cx="5669280" cy="1005840"/>
          </a:xfrm>
          <a:prstGeom prst="rect">
            <a:avLst>
              <a:gd name="adj" fmla="val 9091"/>
            </a:avLst>
          </a:prstGeom>
          <a:solidFill>
            <a:srgbClr val="0A0A0A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3591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🔔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78992" y="2359152"/>
            <a:ext cx="4828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78992" y="2688336"/>
            <a:ext cx="482803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connected on both platforms; Firebase can extend real-time push alerts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355080" y="2286000"/>
            <a:ext cx="5669280" cy="1005840"/>
          </a:xfrm>
          <a:prstGeom prst="rect">
            <a:avLst>
              <a:gd name="adj" fmla="val 9091"/>
            </a:avLst>
          </a:prstGeom>
          <a:solidFill>
            <a:srgbClr val="0A0A0A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23591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📲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068312" y="2359152"/>
            <a:ext cx="4828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Support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068312" y="2688336"/>
            <a:ext cx="482803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supports iOS; expo run:ios already in package.json — just needs Apple setup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3401568"/>
            <a:ext cx="5669280" cy="1005840"/>
          </a:xfrm>
          <a:prstGeom prst="rect">
            <a:avLst>
              <a:gd name="adj" fmla="val 9091"/>
            </a:avLst>
          </a:prstGeom>
          <a:solidFill>
            <a:srgbClr val="0A0A0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474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🔑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078992" y="3474720"/>
            <a:ext cx="4828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Registration &amp; OTP Reset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78992" y="3803904"/>
            <a:ext cx="482803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Self-registration and OTP flow (already on mobile) can be ported to web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355080" y="3401568"/>
            <a:ext cx="5669280" cy="1005840"/>
          </a:xfrm>
          <a:prstGeom prst="rect">
            <a:avLst>
              <a:gd name="adj" fmla="val 9091"/>
            </a:avLst>
          </a:prstGeom>
          <a:solidFill>
            <a:srgbClr val="0A0A0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92240" y="3474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068312" y="3474720"/>
            <a:ext cx="4828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 Barcode Scanner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068312" y="3803904"/>
            <a:ext cx="482803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 model has barcode field; Expo Camera barcode scanning can be added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65760" y="4517136"/>
            <a:ext cx="5669280" cy="1005840"/>
          </a:xfrm>
          <a:prstGeom prst="rect">
            <a:avLst>
              <a:gd name="adj" fmla="val 9091"/>
            </a:avLst>
          </a:prstGeom>
          <a:solidFill>
            <a:srgbClr val="0A0A0A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5902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⭐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078992" y="4590288"/>
            <a:ext cx="4828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 Reviews &amp; Ratings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78992" y="4919472"/>
            <a:ext cx="482803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reviewsAPI already wired in mobile API service; rating UI can be added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355080" y="4517136"/>
            <a:ext cx="5669280" cy="1005840"/>
          </a:xfrm>
          <a:prstGeom prst="rect">
            <a:avLst>
              <a:gd name="adj" fmla="val 9091"/>
            </a:avLst>
          </a:prstGeom>
          <a:solidFill>
            <a:srgbClr val="0A0A0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92240" y="45902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🔁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7068312" y="4590288"/>
            <a:ext cx="4828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 Refill Reminder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068312" y="4919472"/>
            <a:ext cx="482803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/api/refills route exists; scheduled SMS/push reminders for chronic patients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65760" y="5632704"/>
            <a:ext cx="5669280" cy="1005840"/>
          </a:xfrm>
          <a:prstGeom prst="rect">
            <a:avLst>
              <a:gd name="adj" fmla="val 9091"/>
            </a:avLst>
          </a:prstGeom>
          <a:solidFill>
            <a:srgbClr val="0A0A0A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570585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1078992" y="5705856"/>
            <a:ext cx="4828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 OCR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078992" y="6035040"/>
            <a:ext cx="482803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Auto-read medicine names from uploaded prescription images using ML/AI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355080" y="5632704"/>
            <a:ext cx="5669280" cy="1005840"/>
          </a:xfrm>
          <a:prstGeom prst="rect">
            <a:avLst>
              <a:gd name="adj" fmla="val 9091"/>
            </a:avLst>
          </a:prstGeom>
          <a:solidFill>
            <a:srgbClr val="0A0A0A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92240" y="570585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❤️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7068312" y="5705856"/>
            <a:ext cx="4828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Favorites + AI for Web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7068312" y="6035040"/>
            <a:ext cx="482803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Favorites &amp; AI backend endpoints exist; web UI widgets can be added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Pharmacy Management System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Naif Basha</dc:creator>
  <cp:lastModifiedBy>Naif Basha</cp:lastModifiedBy>
  <cp:revision>1</cp:revision>
  <dcterms:created xsi:type="dcterms:W3CDTF">2026-04-19T16:03:22Z</dcterms:created>
  <dcterms:modified xsi:type="dcterms:W3CDTF">2026-04-19T16:03:22Z</dcterms:modified>
</cp:coreProperties>
</file>