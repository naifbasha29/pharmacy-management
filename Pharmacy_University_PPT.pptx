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12188952" cy="1097280"/>
          </a:xfrm>
          <a:prstGeom prst="rect">
            <a:avLst/>
          </a:prstGeom>
          <a:solidFill>
            <a:srgbClr val="122D5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[UNIVERSITY NAME]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MCA Programme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316736"/>
            <a:ext cx="94457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 — Web Application &amp; Mobile Application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834640"/>
            <a:ext cx="9445752" cy="36576"/>
          </a:xfrm>
          <a:prstGeom prst="rect">
            <a:avLst/>
          </a:prstGeom>
          <a:solidFill>
            <a:srgbClr val="2A4A7A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3035808"/>
            <a:ext cx="3200400" cy="420624"/>
          </a:xfrm>
          <a:prstGeom prst="rect">
            <a:avLst/>
          </a:prstGeom>
          <a:solidFill>
            <a:srgbClr val="122D56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3035808"/>
            <a:ext cx="5943600" cy="420624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3035808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035808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(User Module)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3529584"/>
            <a:ext cx="3200400" cy="420624"/>
          </a:xfrm>
          <a:prstGeom prst="rect">
            <a:avLst/>
          </a:prstGeom>
          <a:solidFill>
            <a:srgbClr val="122D56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3529584"/>
            <a:ext cx="5943600" cy="420624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352958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529584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Naif Basha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45920" y="4023360"/>
            <a:ext cx="3200400" cy="420624"/>
          </a:xfrm>
          <a:prstGeom prst="rect">
            <a:avLst/>
          </a:prstGeom>
          <a:solidFill>
            <a:srgbClr val="122D5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4023360"/>
            <a:ext cx="5943600" cy="420624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20" name="Text 18"/>
          <p:cNvSpPr/>
          <p:nvPr/>
        </p:nvSpPr>
        <p:spPr>
          <a:xfrm>
            <a:off x="1737360" y="4023360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023360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[MCA / M.Sc. CS — as applicable]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4517136"/>
            <a:ext cx="3200400" cy="420624"/>
          </a:xfrm>
          <a:prstGeom prst="rect">
            <a:avLst/>
          </a:prstGeom>
          <a:solidFill>
            <a:srgbClr val="122D56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4517136"/>
            <a:ext cx="5943600" cy="420624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4517136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517136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College Name]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45920" y="5010912"/>
            <a:ext cx="3200400" cy="420624"/>
          </a:xfrm>
          <a:prstGeom prst="rect">
            <a:avLst/>
          </a:prstGeom>
          <a:solidFill>
            <a:srgbClr val="122D56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5010912"/>
            <a:ext cx="5943600" cy="420624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28" name="Text 26"/>
          <p:cNvSpPr/>
          <p:nvPr/>
        </p:nvSpPr>
        <p:spPr>
          <a:xfrm>
            <a:off x="1737360" y="501091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5010912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645920" y="5504688"/>
            <a:ext cx="3200400" cy="420624"/>
          </a:xfrm>
          <a:prstGeom prst="rect">
            <a:avLst/>
          </a:prstGeom>
          <a:solidFill>
            <a:srgbClr val="122D56"/>
          </a:solidFill>
          <a:ln/>
        </p:spPr>
      </p:sp>
      <p:sp>
        <p:nvSpPr>
          <p:cNvPr id="31" name="Shape 29"/>
          <p:cNvSpPr/>
          <p:nvPr/>
        </p:nvSpPr>
        <p:spPr>
          <a:xfrm>
            <a:off x="4846320" y="5504688"/>
            <a:ext cx="5943600" cy="420624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32" name="Text 30"/>
          <p:cNvSpPr/>
          <p:nvPr/>
        </p:nvSpPr>
        <p:spPr>
          <a:xfrm>
            <a:off x="1737360" y="5504688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5504688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33856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is a multi-platform application for managing patient medicine needs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built using React.js + Vite (MERN Stack) accessible from any browser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built using Expo (React Native) for Android devices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share the same Node.js + Express + MongoDB backend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browse medicines, place orders, upload prescriptions, and manage their health profile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includes AI Symptom Checker, AI Chatbot, Favorites, and Home Medicine Cabinet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ensures secure access on both platforms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enables real-time order and ticket status updates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USER MODULE only — focuses on patient-side operations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in traditional pharmacy management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124712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972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 of the Existing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must physically visit the pharmacy every time to purchase medicine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prescriptions can be lost, misread, or forged — no digital verification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track order status, delivery progress, or order history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health profile — blood group, allergies, and conditions stored on paper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application — patients cannot manage medicines remotely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for patients to report issues, complaints, or seek online support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credentials means complete loss of account access — no recovery system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symptom-based medicine suggestion — patients must always visit a doctor for guidance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of home medicine expiry dates — leads to unsafe medicine usage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favorites or wishlist — patients must re-search every time for frequently needed items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implemented in the User Module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57784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97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5349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login using Patient ID and password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showing recent orders, health summary and stats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catalog with search, category filter, price range, and pagination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with GST (18%) and free shipping above Rs.500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checkout: Shipping Address → Payment → Review &amp; Order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with status filters, expandable details, and cancel option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upload (image / PDF, max 5 MB) with status tracking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Personal info, Health profile (blood group, allergies), Password change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&amp; Support: FAQ accordion + support ticket submission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1072" y="1097280"/>
            <a:ext cx="557784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097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444752"/>
            <a:ext cx="5349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using Email or Patient ID and password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self-registration wizard (Account → Personal → Health)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with OTP verification and password reset (4 screens)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catalog with 2-column grid, debounced search, category chips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Detail screen showing dosage, uses, side effects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as a modal slide-up from bottom (native UX)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 screen with full tracking history and timestamps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upload via camera capture or device gallery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Checker with quick-tap tags and medicine suggestions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for medicine queries and order help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Medicine Cabinet with color-coded expiry alerts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/ Wishlist with Add to Cart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medicine recommendations based on order history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theme toggle persisted via AsyncStorage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56616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972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(Web)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444752"/>
            <a:ext cx="34290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v18.2.0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v5.0.10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v6.21.1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v1.6.2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Icons v5.0.1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Hot Toast v2.4.1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(data charts)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(custom theme)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097280"/>
            <a:ext cx="356616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0972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25112" y="1444752"/>
            <a:ext cx="34290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~54.0.33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v0.81.5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v7.x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Image Picker ~17.0.10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Secure Store ~15.0.8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Storage v2.2.0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 v4.8.3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Chart Kit v6.12.0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v1.13.3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097280"/>
            <a:ext cx="374904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0972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&amp; Database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11312" y="1444752"/>
            <a:ext cx="36118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v18+ (Runtime)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v4.18.2 (REST API)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(NoSQL Database)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v8.0.3 (ODM)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jsonwebtoken v9.0.2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v2.4.3 (password hashing)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v4.6.1 (real-time)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v1.4.5 (file uploads)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+ Rate Limit (security)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(OTP email)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(env config)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| Postman | MongoDB Compass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(version control)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57784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97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Machine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444752"/>
            <a:ext cx="5349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 : Intel Core i5 (8th Gen or above)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       : Minimum 8 GB (16 GB recommended)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  : 256 GB SSD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        : Windows 10 / 11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   : Full HD monitor (1920 x 1080)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   : Broadband internet connection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1072" y="1097280"/>
            <a:ext cx="557784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097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Devices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444752"/>
            <a:ext cx="5349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Client : Any modern PC / Laptop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Chrome, Firefox, or Edge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4 GB minimum</a:t>
            </a:r>
            <a:endParaRPr lang="en-US" sz="1200" dirty="0"/>
          </a:p>
          <a:p>
            <a:pPr>
              <a:spcAft>
                <a:spcPts val="200"/>
              </a:spcAft>
            </a:pP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    : Android smartphone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version 8.0 or above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3 GB minimum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2 GB free space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or 4G mobile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828032"/>
            <a:ext cx="1124712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482803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Requirements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16636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OS : Ubuntu 20.04+ / Windows Server / Any Node.js-compatible environment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 : v18 or above must be installed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: MongoDB Atlas (cloud) or MongoDB Community Edition (local)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  : Static IP / domain with internet access for API communication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1719072"/>
          </a:xfrm>
          <a:prstGeom prst="rect">
            <a:avLst>
              <a:gd name="adj" fmla="val 4255"/>
            </a:avLst>
          </a:prstGeom>
          <a:solidFill>
            <a:srgbClr val="F0F5FD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577840" cy="347472"/>
          </a:xfrm>
          <a:prstGeom prst="rect">
            <a:avLst>
              <a:gd name="adj" fmla="val 21053"/>
            </a:avLst>
          </a:prstGeom>
          <a:solidFill>
            <a:srgbClr val="1A3C6E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133856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Planning &amp; Analysis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53218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user requirements for Web and Mobile platforms</a:t>
            </a:r>
            <a:endParaRPr lang="en-US" sz="1100" dirty="0"/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modules: Auth, Catalog, Cart, Orders, Prescriptions, Profile, Support, AI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91072" y="1115568"/>
            <a:ext cx="5577840" cy="1719072"/>
          </a:xfrm>
          <a:prstGeom prst="rect">
            <a:avLst>
              <a:gd name="adj" fmla="val 4255"/>
            </a:avLst>
          </a:prstGeom>
          <a:solidFill>
            <a:srgbClr val="F0F5FD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115568"/>
            <a:ext cx="5577840" cy="347472"/>
          </a:xfrm>
          <a:prstGeom prst="rect">
            <a:avLst>
              <a:gd name="adj" fmla="val 21053"/>
            </a:avLst>
          </a:prstGeom>
          <a:solidFill>
            <a:srgbClr val="1A3C6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133856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Database Design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28232" y="1517904"/>
            <a:ext cx="53218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15 MongoDB collections: Patient, Medicine, Order, Prescription, Favorite, HomeMedicine, SupportTicket, Category, etc.</a:t>
            </a:r>
            <a:endParaRPr lang="en-US" sz="1100" dirty="0"/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relationships and schema using Mongoose ODM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5577840" cy="1719072"/>
          </a:xfrm>
          <a:prstGeom prst="rect">
            <a:avLst>
              <a:gd name="adj" fmla="val 4255"/>
            </a:avLst>
          </a:prstGeom>
          <a:solidFill>
            <a:srgbClr val="F0F5FD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62656"/>
            <a:ext cx="5577840" cy="347472"/>
          </a:xfrm>
          <a:prstGeom prst="rect">
            <a:avLst>
              <a:gd name="adj" fmla="val 21053"/>
            </a:avLst>
          </a:prstGeom>
          <a:solidFill>
            <a:srgbClr val="1A3C6E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980944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Backend Development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53218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Node.js + Express REST API with 20+ route groups</a:t>
            </a:r>
            <a:endParaRPr lang="en-US" sz="1100" dirty="0"/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JWT authentication, file upload (Multer), Socket.io, and rate limiting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91072" y="2962656"/>
            <a:ext cx="5577840" cy="1719072"/>
          </a:xfrm>
          <a:prstGeom prst="rect">
            <a:avLst>
              <a:gd name="adj" fmla="val 4255"/>
            </a:avLst>
          </a:prstGeom>
          <a:solidFill>
            <a:srgbClr val="F0F5FD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2962656"/>
            <a:ext cx="5577840" cy="347472"/>
          </a:xfrm>
          <a:prstGeom prst="rect">
            <a:avLst>
              <a:gd name="adj" fmla="val 21053"/>
            </a:avLst>
          </a:prstGeom>
          <a:solidFill>
            <a:srgbClr val="1A3C6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980944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Web Frontend (React)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28232" y="3364992"/>
            <a:ext cx="53218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all user pages: Dashboard, Catalog, Cart, Checkout, Orders, Prescriptions, Profile, Support</a:t>
            </a:r>
            <a:endParaRPr lang="en-US" sz="1100" dirty="0"/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state using AuthContext and CartContext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809744"/>
            <a:ext cx="5577840" cy="1719072"/>
          </a:xfrm>
          <a:prstGeom prst="rect">
            <a:avLst>
              <a:gd name="adj" fmla="val 4255"/>
            </a:avLst>
          </a:prstGeom>
          <a:solidFill>
            <a:srgbClr val="F0F5FD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809744"/>
            <a:ext cx="5577840" cy="347472"/>
          </a:xfrm>
          <a:prstGeom prst="rect">
            <a:avLst>
              <a:gd name="adj" fmla="val 21053"/>
            </a:avLst>
          </a:prstGeom>
          <a:solidFill>
            <a:srgbClr val="1A3C6E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4828032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Mobile App (Expo)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5212080"/>
            <a:ext cx="53218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all screens including Register, OTP Reset, AI Symptom Checker, Chatbot, Home Medicine, Favorites, Recommendations</a:t>
            </a:r>
            <a:endParaRPr lang="en-US" sz="1100" dirty="0"/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ThemeContext for dark/light mode; Secure Store for JWT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91072" y="4809744"/>
            <a:ext cx="5577840" cy="1719072"/>
          </a:xfrm>
          <a:prstGeom prst="rect">
            <a:avLst>
              <a:gd name="adj" fmla="val 4255"/>
            </a:avLst>
          </a:prstGeom>
          <a:solidFill>
            <a:srgbClr val="F0F5FD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91072" y="4809744"/>
            <a:ext cx="5577840" cy="347472"/>
          </a:xfrm>
          <a:prstGeom prst="rect">
            <a:avLst>
              <a:gd name="adj" fmla="val 21053"/>
            </a:avLst>
          </a:prstGeom>
          <a:solidFill>
            <a:srgbClr val="1A3C6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828032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Testing &amp; Integration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28232" y="5212080"/>
            <a:ext cx="53218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all API endpoints using Postman</a:t>
            </a:r>
            <a:endParaRPr lang="en-US" sz="1100" dirty="0"/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functional testing on Web and Mobile; tested integration with shared backend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and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11247120" cy="493776"/>
          </a:xfrm>
          <a:prstGeom prst="rect">
            <a:avLst>
              <a:gd name="adj" fmla="val 7407"/>
            </a:avLst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Authentication Module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73552" y="120700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9" name="Text 7"/>
          <p:cNvSpPr/>
          <p:nvPr/>
        </p:nvSpPr>
        <p:spPr>
          <a:xfrm>
            <a:off x="3401568" y="1161288"/>
            <a:ext cx="8065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(Web: Patient ID | Mobile: Email or Patient ID), 3-step Registration (Mobile), Forgot Password with OTP verification and reset (Mobile)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41348"/>
            <a:ext cx="11247120" cy="493776"/>
          </a:xfrm>
          <a:prstGeom prst="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8706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Medicine Catalog Module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73552" y="173278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687068"/>
            <a:ext cx="8065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category filter, price range filter; paginated grid (Web); debounced search, 2-col grid, pull-to-refresh (Mobile); Medicine Detail screen (Mobile)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11247120" cy="493776"/>
          </a:xfrm>
          <a:prstGeom prst="rect">
            <a:avLst>
              <a:gd name="adj" fmla="val 7407"/>
            </a:avLst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1284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Cart &amp; Checkout Module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73552" y="225856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2212848"/>
            <a:ext cx="8065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items, quantity control, GST 18%, free shipping ≥ Rs.500; 3-step checkout (Shipping → Payment → Review); Cart as bottom modal (Mobile)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92908"/>
            <a:ext cx="11247120" cy="493776"/>
          </a:xfrm>
          <a:prstGeom prst="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3862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Order Management Module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73552" y="278434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2738628"/>
            <a:ext cx="8065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with status filters (All/Active/Completed/Cancelled); expandable order details (Web); dedicated Order Detail screen with tracking history (Mobile); Cancel order for pending status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18688"/>
            <a:ext cx="11247120" cy="493776"/>
          </a:xfrm>
          <a:prstGeom prst="rect">
            <a:avLst>
              <a:gd name="adj" fmla="val 7407"/>
            </a:avLst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6440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Prescription Module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73552" y="331012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5" name="Text 23"/>
          <p:cNvSpPr/>
          <p:nvPr/>
        </p:nvSpPr>
        <p:spPr>
          <a:xfrm>
            <a:off x="3401568" y="3264408"/>
            <a:ext cx="8065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 or PDF from browser (Web); camera capture or gallery (Mobile); status tracking: Pending → Verified → Fulfilled; pharmacist notes displayed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44468"/>
            <a:ext cx="11247120" cy="493776"/>
          </a:xfrm>
          <a:prstGeom prst="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9018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Profile Management Module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73552" y="383590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9" name="Text 27"/>
          <p:cNvSpPr/>
          <p:nvPr/>
        </p:nvSpPr>
        <p:spPr>
          <a:xfrm>
            <a:off x="3401568" y="3790188"/>
            <a:ext cx="8065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Details, Health Profile (blood group, allergies, chronic conditions), Password Change — 3-tab layout on both platforms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270248"/>
            <a:ext cx="11247120" cy="493776"/>
          </a:xfrm>
          <a:prstGeom prst="rect">
            <a:avLst>
              <a:gd name="adj" fmla="val 7407"/>
            </a:avLst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31596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Help &amp; Support Module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73552" y="436168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33" name="Text 31"/>
          <p:cNvSpPr/>
          <p:nvPr/>
        </p:nvSpPr>
        <p:spPr>
          <a:xfrm>
            <a:off x="3401568" y="4315968"/>
            <a:ext cx="8065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accordion, support ticket submission with category (order/prescription/payment/delivery/account); ticket number auto-generated (TKT000001)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796028"/>
            <a:ext cx="11247120" cy="493776"/>
          </a:xfrm>
          <a:prstGeom prst="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84174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AI Features (Mobile Only)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73552" y="488746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37" name="Text 35"/>
          <p:cNvSpPr/>
          <p:nvPr/>
        </p:nvSpPr>
        <p:spPr>
          <a:xfrm>
            <a:off x="3401568" y="4841748"/>
            <a:ext cx="8065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Checker: quick-tap tags + free text → AI suggests medicines; AI Chatbot for queries; Personalized Recommendations from order history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5321808"/>
            <a:ext cx="11247120" cy="493776"/>
          </a:xfrm>
          <a:prstGeom prst="rect">
            <a:avLst>
              <a:gd name="adj" fmla="val 7407"/>
            </a:avLst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536752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Home Medicine Cabinet (Mobile)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73552" y="541324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41" name="Text 39"/>
          <p:cNvSpPr/>
          <p:nvPr/>
        </p:nvSpPr>
        <p:spPr>
          <a:xfrm>
            <a:off x="3401568" y="5367528"/>
            <a:ext cx="8065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home medicines with name, dosage, quantity, expiry date; color-coded alerts: Green &gt;90 days, Yellow &lt;30 days, Red = expired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5847588"/>
            <a:ext cx="11247120" cy="493776"/>
          </a:xfrm>
          <a:prstGeom prst="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589330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Favorites / Wishlist (Mobile)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73552" y="593902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45" name="Text 43"/>
          <p:cNvSpPr/>
          <p:nvPr/>
        </p:nvSpPr>
        <p:spPr>
          <a:xfrm>
            <a:off x="3401568" y="5893308"/>
            <a:ext cx="8065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medicines as favorites; view list with discounted price, stock status; Add to Cart or Remove from wishlist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Client-Server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1247120" cy="29260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PRESENTATION LAYER (Client Side)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5120640" cy="1371600"/>
          </a:xfrm>
          <a:prstGeom prst="rect">
            <a:avLst>
              <a:gd name="adj" fmla="val 6667"/>
            </a:avLst>
          </a:prstGeom>
          <a:solidFill>
            <a:srgbClr val="E8F0F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08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 (React.js + Vite)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Login, Dashboard, Catalog, Cart,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Orders, Prescriptions, Profile, Support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AuthContext, CartContext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Axios HTTP calls to Backend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4983480" cy="1371600"/>
          </a:xfrm>
          <a:prstGeom prst="rect">
            <a:avLst>
              <a:gd name="adj" fmla="val 6667"/>
            </a:avLst>
          </a:prstGeom>
          <a:solidFill>
            <a:srgbClr val="EDF7ED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5087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 (Expo / React Native)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18288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Screens: Login, Register, Catalog, Cart,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Prescriptions, Profile, AI Symptom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Checker, Chatbot, Favorites, HomeMedicine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AuthContext, CartContext, ThemeContext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82880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(Axios)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Socket.io (real-time)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560320"/>
            <a:ext cx="1097280" cy="54864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2852928"/>
            <a:ext cx="54864" cy="4572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0" y="2852928"/>
            <a:ext cx="54864" cy="4572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337560"/>
            <a:ext cx="11247120" cy="29260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375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APPLICATION LAYER (Back-End Server)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11247120" cy="1133856"/>
          </a:xfrm>
          <a:prstGeom prst="rect">
            <a:avLst>
              <a:gd name="adj" fmla="val 6452"/>
            </a:avLst>
          </a:prstGeom>
          <a:solidFill>
            <a:srgbClr val="FFF8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1246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REST API Server  (Port 5005)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041648"/>
            <a:ext cx="11018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/api/auth  |  /api/medicines  |  /api/categories  |  /api/orders  |  /api/prescriptions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/api/patients  |  /api/favorites  |  /api/home-medicines  |  /api/ai  |  /api/support  |  /api/payments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JWT Auth  |  Multer (file upload)  |  Helmet  |  Rate Limiter  |  Socket.io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4828032"/>
            <a:ext cx="54864" cy="347472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49011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5193792"/>
            <a:ext cx="11247120" cy="29260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19379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DATA LAYER (Database)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522976"/>
            <a:ext cx="11247120" cy="877824"/>
          </a:xfrm>
          <a:prstGeom prst="rect">
            <a:avLst>
              <a:gd name="adj" fmla="val 8333"/>
            </a:avLst>
          </a:prstGeom>
          <a:solidFill>
            <a:srgbClr val="FEFCE8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5504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Database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5843016"/>
            <a:ext cx="11064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patients  ·  medicines  ·  categories  ·  orders  ·  prescriptions  ·  favorites  ·  homemedicines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supporttickets  ·  reviews  ·  auditlogs  ·  users  ·  settings  ·  sessions  ·  suppliers  ·  clinics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(DFD)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and Level 1 — User Module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124712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972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DFD — Context Diagram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194560" cy="566928"/>
          </a:xfrm>
          <a:prstGeom prst="rect">
            <a:avLst/>
          </a:prstGeom>
          <a:solidFill>
            <a:srgbClr val="E8F0F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(Patient)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1746504"/>
            <a:ext cx="1828800" cy="54864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5361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Browse, Order,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Query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1389888"/>
            <a:ext cx="3200400" cy="822960"/>
          </a:xfrm>
          <a:prstGeom prst="rect">
            <a:avLst>
              <a:gd name="adj" fmla="val 13333"/>
            </a:avLst>
          </a:prstGeom>
          <a:solidFill>
            <a:srgbClr val="FFF3C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38988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+ Mobile + Backend)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1746504"/>
            <a:ext cx="1828800" cy="54864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15361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status, Prescriptions,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info, Tickets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509760" y="1508760"/>
            <a:ext cx="2194560" cy="566928"/>
          </a:xfrm>
          <a:prstGeom prst="rect">
            <a:avLst/>
          </a:prstGeom>
          <a:solidFill>
            <a:srgbClr val="FEFCE8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15087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85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487168"/>
            <a:ext cx="1124712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8716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DFD — Process Breakdown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11247120" cy="420624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712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Authentication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90672" y="2907792"/>
            <a:ext cx="18288" cy="274320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2871216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enters credentials → Backend validates JWT → Token issued → Access granted to protected routes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291840"/>
            <a:ext cx="11247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3284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Medicine Catalog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90672" y="3364992"/>
            <a:ext cx="18288" cy="274320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3328416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requests catalog → Backend queries Medicine collection (search/filter/category/price) → Returns paginated results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11247120" cy="420624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85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Cart &amp; Checkout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90672" y="3822192"/>
            <a:ext cx="18288" cy="274320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0" y="3785616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adds items to cart (client-side) → Submits order → Backend creates Order document in MongoDB → Inventory updated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206240"/>
            <a:ext cx="11247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2428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— Order Tracking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90672" y="4279392"/>
            <a:ext cx="18288" cy="274320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0" y="4242816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views order list → Backend fetches Order collection by patient ID → Returns status + trackingHistory timeline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663440"/>
            <a:ext cx="11247120" cy="420624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700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— Prescriptions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090672" y="4736592"/>
            <a:ext cx="18288" cy="274320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0" y="4700016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uploads image/PDF → Multer stores file → Prescription record created → Pharmacist updates status → Patient sees result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5120640"/>
            <a:ext cx="11247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51572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— Profile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090672" y="5193792"/>
            <a:ext cx="18288" cy="274320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0" y="5157216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edits details → PUT /api/patients/:id → Mongoose updates Patient document → Response returned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577840"/>
            <a:ext cx="11247120" cy="420624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56144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— AI Features (Mobile)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90672" y="5650992"/>
            <a:ext cx="18288" cy="274320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0" y="5614416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inputs symptoms → POST /api/ai/symptom-check → AI logic queries Medicine collection → Returns matching medicines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6035040"/>
            <a:ext cx="11247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6071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 — Support Tickets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090672" y="6108192"/>
            <a:ext cx="18288" cy="274320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0" y="6071616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submits ticket → SupportTicket document created → Ticket number (TKT000001) auto-generated → Status tracked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Relationships — MongoDB Collections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124712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972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Entities (Collections) and Their Attributes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11247120" cy="475488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08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545336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508760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patientId, name, email, phone, dateOfBirth, gender, bloodGroup, address, allergies[], chronicConditions[], resetPasswordOTP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970532"/>
            <a:ext cx="11247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162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05282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016252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genericName, category (ref), price, stock, dosageForm, strength, sideEffects[], uses[], expiryDate, discount, barcode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478024"/>
            <a:ext cx="11247120" cy="475488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237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560320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2523744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orderNumber, user (ref Patient), items[{medicine, qty, price}], subtotal, tax, shippingCost, total, status, paymentMethod, shippingAddress, trackingHistory[]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985516"/>
            <a:ext cx="11247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312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3067812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3031236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prescriptionNumber, patient (ref), user (ref), doctorName, prescriptionDate, image, medicines[], status, verifiedBy, rejectionReason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493008"/>
            <a:ext cx="11247120" cy="475488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38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3575304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8" name="Text 26"/>
          <p:cNvSpPr/>
          <p:nvPr/>
        </p:nvSpPr>
        <p:spPr>
          <a:xfrm>
            <a:off x="2606040" y="3538728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icon, isActive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000500"/>
            <a:ext cx="11247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462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4082796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32" name="Text 30"/>
          <p:cNvSpPr/>
          <p:nvPr/>
        </p:nvSpPr>
        <p:spPr>
          <a:xfrm>
            <a:off x="2606040" y="4046220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(ref Patient), medicine (ref Medicine)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507992"/>
            <a:ext cx="11247120" cy="475488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5537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HomeMedicine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68880" y="4590288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36" name="Text 34"/>
          <p:cNvSpPr/>
          <p:nvPr/>
        </p:nvSpPr>
        <p:spPr>
          <a:xfrm>
            <a:off x="2606040" y="4553712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(ref Patient), name, dosage, quantity, expiryDate, reminderDaysBefore, notes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5015484"/>
            <a:ext cx="11247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50612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5097780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40" name="Text 38"/>
          <p:cNvSpPr/>
          <p:nvPr/>
        </p:nvSpPr>
        <p:spPr>
          <a:xfrm>
            <a:off x="2606040" y="5061204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ticketNumber, user (ref Patient), subject, category, description, status, priority, responses[], relatedOrder (ref)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5522976"/>
            <a:ext cx="11247120" cy="475488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55686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68880" y="5605272"/>
            <a:ext cx="18288" cy="310896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44" name="Text 42"/>
          <p:cNvSpPr/>
          <p:nvPr/>
        </p:nvSpPr>
        <p:spPr>
          <a:xfrm>
            <a:off x="2606040" y="5568696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(ref), order (ref), medicine (ref), rating, comment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6035040"/>
            <a:ext cx="1124712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PLACES many Orders  ·  Order CONTAINS many Medicine items  ·  Patient UPLOADS many Prescriptions  ·  Patient SAVES many Favorites (ref Medicine)  ·  Patient TRACKS many HomeMedicines  ·  Patient SUBMITS many SupportTickets  ·  Medicine BELONGS TO one Category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of User Module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02920" cy="29260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097280"/>
            <a:ext cx="484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TC#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1097280"/>
            <a:ext cx="1234440" cy="29260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097280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57400" y="1097280"/>
            <a:ext cx="2011680" cy="29260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2" name="Text 10"/>
          <p:cNvSpPr/>
          <p:nvPr/>
        </p:nvSpPr>
        <p:spPr>
          <a:xfrm>
            <a:off x="2075688" y="109728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69080" y="1097280"/>
            <a:ext cx="2103120" cy="29260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4" name="Text 12"/>
          <p:cNvSpPr/>
          <p:nvPr/>
        </p:nvSpPr>
        <p:spPr>
          <a:xfrm>
            <a:off x="4087368" y="109728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2834640" cy="29260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1097280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06840" y="1097280"/>
            <a:ext cx="621792" cy="29260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8" name="Text 16"/>
          <p:cNvSpPr/>
          <p:nvPr/>
        </p:nvSpPr>
        <p:spPr>
          <a:xfrm>
            <a:off x="9025128" y="1097280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28632" y="1097280"/>
            <a:ext cx="1965960" cy="29260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20" name="Text 18"/>
          <p:cNvSpPr/>
          <p:nvPr/>
        </p:nvSpPr>
        <p:spPr>
          <a:xfrm>
            <a:off x="9628632" y="109728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2144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1261872"/>
                <a:gridCol w="1920240"/>
                <a:gridCol w="2103120"/>
                <a:gridCol w="356616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login credentials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ID + correct password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Redirects to Dashboard, JWT issued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password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ID + wrong password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Invalid credentials displayed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user self-registration (Mobile)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email, phone, password,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created, redirect to 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OTP-based password reset (Mobile)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Email/Patient ID → OTP → new password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updated, redirected to 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medicine by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Search: "Paracetamol"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medicines displayed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by 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"Antibiotics" chip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Antibiotic medicines shown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medicine to cart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Add to Cart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added, cart count badge updated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out-of-stock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Add (stock=0)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disabled, item not added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order successfully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address, choose COD, Place Order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created, ORD number generated, cart cleared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a pending order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Cancel on pending order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updated to Cancelled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valid prescription image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JPG file &lt; 5MB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 record created, status: Pending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oversized 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file &gt; 5MB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File too large displayed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personal details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name and phone, Save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document updated in MongoDB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Symptom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Check symptoms (Mobile)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"fever, headache" entered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conditions + medicine list returned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medicine with expiry (Mobile)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Name: Paracetamol, Expiry: 2024-01-01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Added; shows Red badge (Already Expired)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a support ticket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subject + message, Submit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created, TKT number assigned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 — Web and Mobile Application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124712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972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Screenshots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11247120" cy="402336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9961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 Page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90672" y="1517904"/>
            <a:ext cx="18288" cy="292608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12" name="Text 10"/>
          <p:cNvSpPr/>
          <p:nvPr/>
        </p:nvSpPr>
        <p:spPr>
          <a:xfrm>
            <a:off x="3218688" y="1499616"/>
            <a:ext cx="8284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 &amp; password input, show/hide toggle, error banner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01952"/>
            <a:ext cx="11247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3852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User Dashboard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90672" y="1956816"/>
            <a:ext cx="18288" cy="292608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16" name="Text 14"/>
          <p:cNvSpPr/>
          <p:nvPr/>
        </p:nvSpPr>
        <p:spPr>
          <a:xfrm>
            <a:off x="3218688" y="1938528"/>
            <a:ext cx="8284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cards (Total Orders, Prescriptions), Recent Orders list, Health Summary, Quick Actions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40864"/>
            <a:ext cx="11247120" cy="402336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774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Medicine Catalog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90672" y="2395728"/>
            <a:ext cx="18288" cy="292608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0" name="Text 18"/>
          <p:cNvSpPr/>
          <p:nvPr/>
        </p:nvSpPr>
        <p:spPr>
          <a:xfrm>
            <a:off x="3218688" y="2377440"/>
            <a:ext cx="8284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bar, Category filter chips, Price range, Paginated medicine grid, Low Stock badges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79776"/>
            <a:ext cx="11247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1635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Shopping Cart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90672" y="2834640"/>
            <a:ext cx="18288" cy="292608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4" name="Text 22"/>
          <p:cNvSpPr/>
          <p:nvPr/>
        </p:nvSpPr>
        <p:spPr>
          <a:xfrm>
            <a:off x="3218688" y="2816352"/>
            <a:ext cx="8284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list, Quantity controls, GST 18% calculation, Free Shipping banner, Checkout button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218688"/>
            <a:ext cx="11247120" cy="402336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5526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Checkout (3 Steps)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90672" y="3273552"/>
            <a:ext cx="18288" cy="292608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28" name="Text 26"/>
          <p:cNvSpPr/>
          <p:nvPr/>
        </p:nvSpPr>
        <p:spPr>
          <a:xfrm>
            <a:off x="3218688" y="3255264"/>
            <a:ext cx="8284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Shipping Address | Step 2: Payment Method | Step 3: Review &amp; Place Order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657600"/>
            <a:ext cx="11247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6941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My Orders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090672" y="3712464"/>
            <a:ext cx="18288" cy="292608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32" name="Text 30"/>
          <p:cNvSpPr/>
          <p:nvPr/>
        </p:nvSpPr>
        <p:spPr>
          <a:xfrm>
            <a:off x="3218688" y="3694176"/>
            <a:ext cx="8284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filters (All/Active/Completed/Cancelled), Expandable order cards, Status badges, Cancel button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096512"/>
            <a:ext cx="11247120" cy="402336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13308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Prescriptions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090672" y="4151376"/>
            <a:ext cx="18288" cy="292608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36" name="Text 34"/>
          <p:cNvSpPr/>
          <p:nvPr/>
        </p:nvSpPr>
        <p:spPr>
          <a:xfrm>
            <a:off x="3218688" y="4133088"/>
            <a:ext cx="8284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area (drag/click), Image preview, Upload history with status badges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535424"/>
            <a:ext cx="11247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572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My Profile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090672" y="4590288"/>
            <a:ext cx="18288" cy="292608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40" name="Text 38"/>
          <p:cNvSpPr/>
          <p:nvPr/>
        </p:nvSpPr>
        <p:spPr>
          <a:xfrm>
            <a:off x="3218688" y="4572000"/>
            <a:ext cx="8284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Tabs: Personal Details | Health Profile (blood group, allergies) | Security (change password)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974336"/>
            <a:ext cx="11247120" cy="402336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50109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Help &amp; Support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090672" y="5029200"/>
            <a:ext cx="18288" cy="292608"/>
          </a:xfrm>
          <a:prstGeom prst="rect">
            <a:avLst/>
          </a:prstGeom>
          <a:solidFill>
            <a:srgbClr val="C7D6EA"/>
          </a:solidFill>
          <a:ln/>
        </p:spPr>
      </p:sp>
      <p:sp>
        <p:nvSpPr>
          <p:cNvPr id="44" name="Text 42"/>
          <p:cNvSpPr/>
          <p:nvPr/>
        </p:nvSpPr>
        <p:spPr>
          <a:xfrm>
            <a:off x="3218688" y="5010912"/>
            <a:ext cx="8284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accordion with 6 questions, Support ticket form with Subject, Category, Message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449824"/>
            <a:ext cx="1124712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" y="5449824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Screenshots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57972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Screen  ·  Register (3 Steps)  ·  Forgot Password  ·  OTP Verification  ·  Reset Password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" y="61264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Medicine Catalog (2-col grid)  ·  Medicine Detail Screen  ·  Cart (Bottom Modal)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2920" y="6455664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 Orders  ·  Order Detail (tracking timeline)  ·  Prescription Upload (camera/gallery)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" y="678484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Symptom Checker (quick tags + results)  ·  AI Chatbot  ·  Home Medicine Cabinet  ·  Favorites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33856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multi-platform Pharmacy Management System (User Module) on Web and Android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(React.js + Vite) covers: Login, Dashboard, Catalog, Cart, Checkout, Orders, Prescriptions, Profile, and Support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(Expo React Native) adds exclusive features: 3-Step Registration, OTP Password Reset, AI Symptom Checker, AI Chatbot, Favorites, Home Medicine Cabinet, Personalized Recommendations, and Dark/Light Theme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shared Node.js + Express + MongoDB backend (20+ API routes) serves both platforms ensuring data consistency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and Bcrypt password hashing provide secure access control on both platforms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enables real-time order status and support ticket updates for a responsive user experience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handles prescription and file uploads securely; files stored in server /uploads directory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collections: Patient, Medicine, Order, Prescription, Category, Favorite, HomeMedicine, SupportTicket — all properly modeled with Mongoose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solves real-world pharmacy access challenges and demonstrates proficiency in full-stack and cross-platform mobile development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tested with functional test cases; APIs verified using Postman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57784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97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Enhancements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444752"/>
            <a:ext cx="5349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Panel: backend admin routes exist — frontend can be added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Gateway: Razorpay / Stripe integration (paymentsAPI already wired)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Notifications: Firebase Cloud Messaging via existing Socket.io setup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Registration &amp; OTP Reset: port mobile-only flow to the web app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Favorites: backend API already exists — add UI widget to catalog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1072" y="1097280"/>
            <a:ext cx="5577840" cy="292608"/>
          </a:xfrm>
          <a:prstGeom prst="rect">
            <a:avLst>
              <a:gd name="adj" fmla="val 125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097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Enhancements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444752"/>
            <a:ext cx="5349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Support: Expo build already configured — needs Apple Developer setup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OCR: auto-read medicine names from uploaded prescription images using ML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Scanner: Medicine model has barcode field — Expo Camera scanning can be added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Review &amp; Rating: reviewsAPI already wired — add rating UI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 Reminders: /api/refills route exists — scheduled SMS/push for chronic patients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Dashboard: allow dispensing staff to manage prescriptions and inventory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Integration: video consultation booking for prescription renewals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 |  User Module  |  Naif Basha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1247120" cy="347472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338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Official Documentation  —  https://react.dev/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72184"/>
            <a:ext cx="11247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08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508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/ React Native Documentation  —  https://docs.expo.dev/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11247120" cy="347472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83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8836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Official Documentation  —  https://nodejs.org/en/docs/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21992"/>
            <a:ext cx="11247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5856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2585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Official Documentation  —  https://expressjs.com/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596896"/>
            <a:ext cx="11247120" cy="347472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334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633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Official Documentation  —  https://www.mongodb.com/docs/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11247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08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00837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Documentation  —  https://mongoosejs.com/docs/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346704"/>
            <a:ext cx="11247120" cy="347472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3832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383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Documentation  —  https://reactnavigation.org/docs/getting-started/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721608"/>
            <a:ext cx="11247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75818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75818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(JWT)  —  https://jwt.io/introduction/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096512"/>
            <a:ext cx="11247120" cy="347472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1330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133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Documentation  —  https://socket.io/docs/v4/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471416"/>
            <a:ext cx="11247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5079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4507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— File Upload Middleware  —  https://github.com/expressjs/multer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846320"/>
            <a:ext cx="11247120" cy="347472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828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4882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— Build Tool Documentation  —  https://vitejs.dev/guide/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5221224"/>
            <a:ext cx="11247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5257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" y="5257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API Testing Tool  —  https://www.postman.com/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5596128"/>
            <a:ext cx="11247120" cy="347472"/>
          </a:xfrm>
          <a:prstGeom prst="rect">
            <a:avLst/>
          </a:prstGeom>
          <a:solidFill>
            <a:srgbClr val="F0F5FD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56327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0120" y="563270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Cloud Database  —  https://www.mongodb.com/cloud/atlas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5971032"/>
            <a:ext cx="11247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D6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60076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60120" y="60076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Image Picker Documentation  —  https://docs.expo.dev/versions/latest/sdk/imagepicker/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2194560"/>
            <a:ext cx="853135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4617720"/>
            <a:ext cx="853135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712464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Naif Basha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5202936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 — User Module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5605272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(React.js + Vite)  ·  Mobile (Expo React Native)  ·  Backend (Node.js + MongoDB)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007608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Name]  |  [College Name]  |  2025–2026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Management System – User Module</dc:title>
  <dc:subject>PptxGenJS Presentation</dc:subject>
  <dc:creator>Naif Basha</dc:creator>
  <cp:lastModifiedBy>Naif Basha</cp:lastModifiedBy>
  <cp:revision>1</cp:revision>
  <dcterms:created xsi:type="dcterms:W3CDTF">2026-04-19T16:46:25Z</dcterms:created>
  <dcterms:modified xsi:type="dcterms:W3CDTF">2026-04-19T16:46:25Z</dcterms:modified>
</cp:coreProperties>
</file>